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98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F17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FocusLearn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AI-Enforced Learning Platform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Enforced. Retention.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892040"/>
            <a:ext cx="2926080" cy="0"/>
          </a:xfrm>
          <a:prstGeom prst="line">
            <a:avLst/>
          </a:prstGeom>
          <a:noFill/>
          <a:ln w="12700">
            <a:solidFill>
              <a:srgbClr val="00E6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Local LLM Reasoning  ·  Real-Time Accountability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is fundamentally broken.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150F2E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course completion rate for passive video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3648083"/>
            <a:ext cx="822960" cy="822960"/>
          </a:xfrm>
          <a:prstGeom prst="ellipse">
            <a:avLst/>
          </a:prstGeom>
          <a:solidFill>
            <a:srgbClr val="1F174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871569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7260" y="48371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accountability once the play button is hit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1874520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130552"/>
            <a:ext cx="731520" cy="73152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755" y="2320747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0208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Tab-Switching &amp; Phones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94960" y="240487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open a second screen within the first 90 seconds of playback.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51960" y="3319272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80560" y="3575304"/>
            <a:ext cx="731520" cy="73152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755" y="3765499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34655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Disengagement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94960" y="384962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keeps running while attention drops to zero — no system notices.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251960" y="4764024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80560" y="5020056"/>
            <a:ext cx="731520" cy="73152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755" y="5210251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Retention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394960" y="529437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'watched,' not learned. Quizzes and certificates mean little.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AI-enforced learning.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50F2E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passive videos into interactive classrooms that force you to pay attention.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50215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383280"/>
            <a:ext cx="868680" cy="86868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360913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434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4892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continuously verifies the student is watching — in real time, entirely in-browser.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063240"/>
            <a:ext cx="350215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3383280"/>
            <a:ext cx="868680" cy="86868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360913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4434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63440" y="4892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LLM reasons over the transcript to detect gaps in comprehension, not just gaps in attention.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3063240"/>
            <a:ext cx="350215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3383280"/>
            <a:ext cx="868680" cy="86868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617" y="360913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434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66760" y="4892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intervenes automatically — pausing, quizzing, or restarting until mastery is proven.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Attention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monitoring powered by TensorFlow.js (BlazeFace) 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gaze direction, face presence, and focus continuity while the video plays.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detected → video auto-pauses instantly and issues an on-screen warning.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footage ever leaves the browser: private, low-latency, zero server load.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58000" y="1783080"/>
            <a:ext cx="4663440" cy="4206240"/>
          </a:xfrm>
          <a:prstGeom prst="roundRect">
            <a:avLst>
              <a:gd name="adj" fmla="val 2174"/>
            </a:avLst>
          </a:prstGeom>
          <a:solidFill>
            <a:srgbClr val="150F2E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86600" y="1984248"/>
            <a:ext cx="128016" cy="128016"/>
          </a:xfrm>
          <a:prstGeom prst="ellipse">
            <a:avLst/>
          </a:prstGeom>
          <a:solidFill>
            <a:srgbClr val="B7B0D6"/>
          </a:solidFill>
          <a:ln/>
        </p:spPr>
      </p:sp>
      <p:sp>
        <p:nvSpPr>
          <p:cNvPr id="9" name="Shape 6"/>
          <p:cNvSpPr/>
          <p:nvPr/>
        </p:nvSpPr>
        <p:spPr>
          <a:xfrm>
            <a:off x="7342632" y="1984248"/>
            <a:ext cx="128016" cy="128016"/>
          </a:xfrm>
          <a:prstGeom prst="ellipse">
            <a:avLst/>
          </a:prstGeom>
          <a:solidFill>
            <a:srgbClr val="B7B0D6"/>
          </a:solidFill>
          <a:ln/>
        </p:spPr>
      </p:sp>
      <p:sp>
        <p:nvSpPr>
          <p:cNvPr id="10" name="Shape 7"/>
          <p:cNvSpPr/>
          <p:nvPr/>
        </p:nvSpPr>
        <p:spPr>
          <a:xfrm>
            <a:off x="7598664" y="1984248"/>
            <a:ext cx="128016" cy="128016"/>
          </a:xfrm>
          <a:prstGeom prst="ellipse">
            <a:avLst/>
          </a:prstGeom>
          <a:solidFill>
            <a:srgbClr val="B7B0D6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0" y="233172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0D0A22"/>
          </a:solidFill>
          <a:ln/>
        </p:spPr>
      </p:sp>
      <p:sp>
        <p:nvSpPr>
          <p:cNvPr id="12" name="Shape 9"/>
          <p:cNvSpPr/>
          <p:nvPr/>
        </p:nvSpPr>
        <p:spPr>
          <a:xfrm>
            <a:off x="8961120" y="3200400"/>
            <a:ext cx="640080" cy="640080"/>
          </a:xfrm>
          <a:prstGeom prst="ellipse">
            <a:avLst/>
          </a:prstGeom>
          <a:solidFill>
            <a:srgbClr val="1C164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1" y="3366821"/>
            <a:ext cx="307238" cy="30723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104120" y="2468880"/>
            <a:ext cx="1005840" cy="1005840"/>
          </a:xfrm>
          <a:prstGeom prst="rect">
            <a:avLst/>
          </a:prstGeom>
          <a:solidFill>
            <a:srgbClr val="150F2E">
              <a:alpha val="0"/>
            </a:srgbClr>
          </a:solidFill>
          <a:ln w="25400">
            <a:solidFill>
              <a:srgbClr val="00E6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6B0"/>
                </a:solidFill>
              </a:rPr>
              <a:t>TRACKING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132320" y="47548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F1747"/>
          </a:solidFill>
          <a:ln/>
        </p:spPr>
      </p:sp>
      <p:sp>
        <p:nvSpPr>
          <p:cNvPr id="17" name="Shape 13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496519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4754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Confirmed — Playback Continuing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132320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confidence: 96%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Accountability Quizzes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out, and the AI immediately tests what you missed.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31620" y="278892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90" y="300289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Check Failed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flags disengagement mid-video.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264408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5CE7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502152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85032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93692" y="278892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2" y="3002890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3) Triggered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85032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sends the transcript to the local LLM.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126480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5CE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364224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547104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7255764" y="278892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3002890"/>
            <a:ext cx="395021" cy="39502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47104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Quiz Generated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547104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multiple-choice questions on exactly what was missed.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988552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5CE7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9226296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409176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10117836" y="278892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1806" y="3002890"/>
            <a:ext cx="395021" cy="39502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09176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60% → Forced Restart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409176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below threshold restarts the video from the top.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Video Chatbot — Your Personal Tutor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panel sits beside the video — ask anything, anytime, without pausing your flow.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entirely by a locally-hosted LLM (Ollama + Llama 3) — no third-party API calls.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contextual: understands the exact transcript segment you're currently watching.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instantly, cites the relevant moment in the video, and never leaves your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0967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Tutor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46520" y="2606040"/>
            <a:ext cx="4892040" cy="0"/>
          </a:xfrm>
          <a:prstGeom prst="line">
            <a:avLst/>
          </a:prstGeom>
          <a:noFill/>
          <a:ln w="12700">
            <a:solidFill>
              <a:srgbClr val="E5E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2834640"/>
            <a:ext cx="3611880" cy="685800"/>
          </a:xfrm>
          <a:prstGeom prst="roundRect">
            <a:avLst>
              <a:gd name="adj" fmla="val 13333"/>
            </a:avLst>
          </a:prstGeom>
          <a:solidFill>
            <a:srgbClr val="F7F6FC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2834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algorithm use recursion here instead of a loop?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46520" y="37033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150F2E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3703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04:32 the instructor explains recursion mirrors the problem's self-similar structure, reducing state-tracking overhead versus an iterative loop.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46520" y="5440680"/>
            <a:ext cx="4892040" cy="548640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5440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this video...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881360" y="55046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0722" y="5614050"/>
            <a:ext cx="201900" cy="201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Smart Notes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time-stamped notes as the video plays — no manual transcription.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concepts, definitions, and summaries extracted automatically by the local LLM.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links back to its exact video timestamp for one-click review.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to PDF or Markdown — saves students hours per course module.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0" y="2057400"/>
            <a:ext cx="502920" cy="50292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879" y="21881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Notes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75120" y="2697480"/>
            <a:ext cx="4572000" cy="0"/>
          </a:xfrm>
          <a:prstGeom prst="line">
            <a:avLst/>
          </a:prstGeom>
          <a:noFill/>
          <a:ln w="12700">
            <a:solidFill>
              <a:srgbClr val="E5E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92608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00:42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gradient descent and the loss surface.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3547872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35478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04:15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0" y="3547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trade-offs: convergence speed vs. stability.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4169664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41696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89520" y="41696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local minima vs. global minima.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4791456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0" y="47914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13:47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47914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three practical tuning strategies.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modular, and built for secure, intelligent processing.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24328" cy="3383280"/>
          </a:xfrm>
          <a:prstGeom prst="roundRect">
            <a:avLst>
              <a:gd name="adj" fmla="val 4181"/>
            </a:avLst>
          </a:prstGeom>
          <a:solidFill>
            <a:srgbClr val="1F1747"/>
          </a:solidFill>
          <a:ln/>
        </p:spPr>
      </p:sp>
      <p:sp>
        <p:nvSpPr>
          <p:cNvPr id="5" name="Shape 3"/>
          <p:cNvSpPr/>
          <p:nvPr/>
        </p:nvSpPr>
        <p:spPr>
          <a:xfrm>
            <a:off x="1540764" y="2057400"/>
            <a:ext cx="822960" cy="82296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734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364992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 for a sleek, componentized UI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83864" y="1783080"/>
            <a:ext cx="2624328" cy="3383280"/>
          </a:xfrm>
          <a:prstGeom prst="roundRect">
            <a:avLst>
              <a:gd name="adj" fmla="val 4181"/>
            </a:avLst>
          </a:prstGeom>
          <a:solidFill>
            <a:srgbClr val="1F1747"/>
          </a:solidFill>
          <a:ln/>
        </p:spPr>
      </p:sp>
      <p:sp>
        <p:nvSpPr>
          <p:cNvPr id="11" name="Shape 8"/>
          <p:cNvSpPr/>
          <p:nvPr/>
        </p:nvSpPr>
        <p:spPr>
          <a:xfrm>
            <a:off x="4384548" y="2057400"/>
            <a:ext cx="822960" cy="82296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518" y="22713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01752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Vision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21024" y="3364992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— BlazeFace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66744" y="4023360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in-browser attention detection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27648" y="1783080"/>
            <a:ext cx="2624328" cy="3383280"/>
          </a:xfrm>
          <a:prstGeom prst="roundRect">
            <a:avLst>
              <a:gd name="adj" fmla="val 4181"/>
            </a:avLst>
          </a:prstGeom>
          <a:solidFill>
            <a:srgbClr val="1F1747"/>
          </a:solidFill>
          <a:ln/>
        </p:spPr>
      </p:sp>
      <p:sp>
        <p:nvSpPr>
          <p:cNvPr id="17" name="Shape 13"/>
          <p:cNvSpPr/>
          <p:nvPr/>
        </p:nvSpPr>
        <p:spPr>
          <a:xfrm>
            <a:off x="7228332" y="2057400"/>
            <a:ext cx="822960" cy="82296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302" y="22713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1752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64808" y="3364992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Django · DRF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10528" y="4023360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layer and session orchestration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71432" y="1783080"/>
            <a:ext cx="2624328" cy="3383280"/>
          </a:xfrm>
          <a:prstGeom prst="roundRect">
            <a:avLst>
              <a:gd name="adj" fmla="val 4181"/>
            </a:avLst>
          </a:prstGeom>
          <a:solidFill>
            <a:srgbClr val="1F1747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72116" y="2057400"/>
            <a:ext cx="822960" cy="82296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086" y="227137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08592" y="301752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08592" y="3364992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3)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54312" y="4023360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— transcripts, quizzes, chatbot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F1747"/>
          </a:solidFill>
          <a:ln/>
        </p:spPr>
      </p:sp>
      <p:sp>
        <p:nvSpPr>
          <p:cNvPr id="29" name="Shape 23"/>
          <p:cNvSpPr/>
          <p:nvPr/>
        </p:nvSpPr>
        <p:spPr>
          <a:xfrm>
            <a:off x="868680" y="5577840"/>
            <a:ext cx="548640" cy="54864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" y="572048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54406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AI inference — transcripts and student data never touch a third-party API.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&amp; Market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guaranteed watch-time and verified comprehension matter.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542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21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ADHD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26974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enforced focus intervals replace unstructured, easy-to-abandon video.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62472" y="1965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24028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24542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221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Bootcamps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42632" y="26974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engagement on dense technical material, module by module.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5196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370" y="44659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Compliance Training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20240" y="47091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proof that employees actually absorbed required material.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62472" y="39776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50F2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251960"/>
            <a:ext cx="822960" cy="822960"/>
          </a:xfrm>
          <a:prstGeom prst="ellipse">
            <a:avLst/>
          </a:prstGeom>
          <a:solidFill>
            <a:srgbClr val="F7F6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762" y="44659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Universities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42632" y="47091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watch-time and integrity for accredited, at-scale course delivery.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Accountable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 doesn't just deliver video — it guarantees the learning actually happens.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What's Next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1F174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Heatmaps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788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visual attention maps across every frame of content.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1F1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3595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Sentiment-aware AI that senses confusion or frustration in real time.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1F17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45555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Analytics Dashboard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4709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Cohort-wide engagement and comprehension reporting for educators.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92240" y="19659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F1747"/>
          </a:solidFill>
          <a:ln/>
        </p:spPr>
      </p:sp>
      <p:sp>
        <p:nvSpPr>
          <p:cNvPr id="19" name="Shape 14"/>
          <p:cNvSpPr/>
          <p:nvPr/>
        </p:nvSpPr>
        <p:spPr>
          <a:xfrm>
            <a:off x="6766560" y="2240280"/>
            <a:ext cx="640080" cy="640080"/>
          </a:xfrm>
          <a:prstGeom prst="ellipse">
            <a:avLst/>
          </a:prstGeom>
          <a:solidFill>
            <a:srgbClr val="150F2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1" y="24067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766560" y="306324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passive completion rates into active, verified mastery.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institutions defensible proof of engagement, not just play counts.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private, local-AI stack — no data leaves the platform.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interactive layer works on any imported video, at scale.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FOCUSLEARN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D38E8-CA59-A54C-822A-26EA8E1E8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009" y="392167"/>
            <a:ext cx="7405175" cy="60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5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C770B4-0B14-6CFF-3665-70C69F5F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31" y="906561"/>
            <a:ext cx="7353937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9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8DCE3F-C8AB-5AFF-3D48-6A19B1C3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3" y="531845"/>
            <a:ext cx="5102042" cy="615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0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825</Words>
  <Application>Microsoft Office PowerPoint</Application>
  <PresentationFormat>Widescreen</PresentationFormat>
  <Paragraphs>144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FocusLearn AI — AI-Enforced Learning Platform</dc:title>
  <dc:subject>PptxGenJS Presentation</dc:subject>
  <dc:creator>FocusLearn AI</dc:creator>
  <cp:lastModifiedBy>Diya Agarwal</cp:lastModifiedBy>
  <cp:revision>2</cp:revision>
  <dcterms:created xsi:type="dcterms:W3CDTF">2026-07-05T08:56:28Z</dcterms:created>
  <dcterms:modified xsi:type="dcterms:W3CDTF">2026-07-05T10:55:25Z</dcterms:modified>
</cp:coreProperties>
</file>